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ECR-WG // REPLICATION - 04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6387084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90604" y="612648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72591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NETL ENERGY BENCHMARK</a:t>
            </a:r>
          </a:p>
          <a:p>
            <a:pPr>
              <a:spcBef>
                <a:spcPts val="800"/>
              </a:spcBef>
              <a:defRPr sz="1800">
                <a:solidFill>
                  <a:srgbClr val="8ECAE6"/>
                </a:solidFill>
                <a:latin typeface="Segoe UI"/>
              </a:defRPr>
            </a:pPr>
            <a:r>
              <a:t>EXHIBIT D: Independent Replication // Gemini 2.5 Flash</a:t>
            </a:r>
          </a:p>
          <a:p>
            <a:pPr>
              <a:spcBef>
                <a:spcPts val="40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EFFICIENCY-CENTERED REASONING WORKING GROUP (ECR-WG)</a:t>
            </a:r>
            <a:br/>
            <a:r>
              <a:t>Registrant: Justin Kintzele  |  Date: 2026-05-22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10725912" cy="27432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C1117"/>
                </a:solidFill>
                <a:latin typeface="Segoe UI"/>
              </a:defRPr>
            </a:pPr>
            <a:r>
              <a:t>EXHIBIT D // Replication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Objective: </a:t>
            </a:r>
            <a:r>
              <a:rPr sz="1400">
                <a:solidFill>
                  <a:srgbClr val="0F172A"/>
                </a:solidFill>
              </a:rPr>
              <a:t>Re-run Exhibit A's Flash cell on later harness commit (0736720) with a separate orchestrator node (Node B) to verify savings durability.</a:t>
            </a:r>
          </a:p>
          <a:p>
            <a:pPr>
              <a:spcAft>
                <a:spcPts val="14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Key Finding: </a:t>
            </a:r>
            <a:r>
              <a:rPr sz="1400">
                <a:solidFill>
                  <a:srgbClr val="0F172A"/>
                </a:solidFill>
              </a:rPr>
              <a:t>All four headline economics metrics replicate within &lt; 2 percentage points of the original Node A benchmarks. Savings are confirmed to be structurally inherent, not an artifact of specific runs.</a:t>
            </a:r>
          </a:p>
          <a:p>
            <a:pPr>
              <a:spcAft>
                <a:spcPts val="14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Task Quality: </a:t>
            </a:r>
            <a:r>
              <a:rPr sz="1400">
                <a:solidFill>
                  <a:srgbClr val="0F172A"/>
                </a:solidFill>
              </a:rPr>
              <a:t>Demonstrates a +6.7% improvement in task quality (0.914 vs 0.857) alongside radical compute compression.</a:t>
            </a:r>
          </a:p>
          <a:p>
            <a:pPr>
              <a:spcAft>
                <a:spcPts val="14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Significance: </a:t>
            </a:r>
            <a:r>
              <a:rPr sz="1400">
                <a:solidFill>
                  <a:srgbClr val="0F172A"/>
                </a:solidFill>
              </a:rPr>
              <a:t>Replication provides empirical grounding (N=5 per arm) verifying that ECR-WG overlays deliver consistent, portable, and reliable efficiency gains.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C1117"/>
                </a:solidFill>
                <a:latin typeface="Segoe UI"/>
              </a:defRPr>
            </a:pPr>
            <a:r>
              <a:t>Gemini 2.5 Flash Token Economics (N=5)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512"/>
                <a:gridCol w="2011680"/>
                <a:gridCol w="2011680"/>
                <a:gridCol w="192024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Arm A (Stateless)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Arm B (Orchestrated)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Savings %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Input Tokens (Prefill)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86,321 +/- 8,475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28,224 +/- 2,316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-58,097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67.3%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Input Charged Prefill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21,648 +/- 1,797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13,615 +/- 8,560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-8,033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37.1% Saved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Output Tokens (Gen)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16,999 +/- 1,648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3,978 +/- 175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-13,021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76.6%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Wall-Clock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112.2s +/- 8.0s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37.0s +/- 3.4s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-75.2s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67.0% Saved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Task Quality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+6.7%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C1117"/>
                </a:solidFill>
                <a:latin typeface="Segoe UI"/>
              </a:defRPr>
            </a:pPr>
            <a:r>
              <a:t>Cache Dynamics &amp; CAPEX Implication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591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300">
                <a:solidFill>
                  <a:srgbClr val="0C1117"/>
                </a:solidFill>
                <a:latin typeface="Segoe UI"/>
              </a:defRPr>
            </a:pPr>
            <a:r>
              <a:t>LOAD-BEARING ANALYSIS: Automatic Prompt Cache vs. Orchestration</a:t>
            </a:r>
          </a:p>
          <a:p>
            <a:pPr>
              <a:spcBef>
                <a:spcPts val="800"/>
              </a:spcBef>
              <a:defRPr sz="1200" i="1">
                <a:solidFill>
                  <a:srgbClr val="475569"/>
                </a:solidFill>
                <a:latin typeface="Segoe UI"/>
              </a:defRPr>
            </a:pPr>
            <a:r>
              <a:t>In this cell, Gemini's automatic prompt cache absorbed a larger portion of the stateless arm's input. This compressed the "input charged" prefill delta to 37.1% (compared to the 67.3% total input savings).</a:t>
            </a:r>
            <a:br/>
            <a:br/>
            <a:r>
              <a:t>Because peak capacity demands dictate infrastructure CAPEX requirements, the "input charged" metric—reflecting what actually hits physical GPU cores—is the true load-bearing argument for federal proposals, not raw input savings.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7259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CAPEX Deferral: </a:t>
            </a:r>
            <a:r>
              <a:rPr sz="1400">
                <a:solidFill>
                  <a:srgbClr val="0F172A"/>
                </a:solidFill>
              </a:rPr>
              <a:t>Real-world infrastructure scaling limits are bound to uncached prefill costs. Overlays defer these capital expenditures directly by intercepting redundant requests before they reach the model provider.</a:t>
            </a:r>
          </a:p>
          <a:p>
            <a:pPr>
              <a:spcAft>
                <a:spcPts val="1400"/>
              </a:spcAft>
              <a:defRPr>
                <a:latin typeface="Segoe UI"/>
              </a:defRPr>
            </a:pPr>
            <a:r>
              <a:rPr b="1" sz="1400">
                <a:solidFill>
                  <a:srgbClr val="0C1117"/>
                </a:solidFill>
              </a:rPr>
              <a:t>▪  Provider Independence: </a:t>
            </a:r>
            <a:r>
              <a:rPr sz="1400">
                <a:solidFill>
                  <a:srgbClr val="0F172A"/>
                </a:solidFill>
              </a:rPr>
              <a:t>Relying on automatic, opaque provider-side caching leaves cost structures volatile. ECR-WG overlays guarantee deterministic memory control at the boundary plane.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ECR-WG // REPLICATION - 04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6387084"/>
            <a:ext cx="274320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90604" y="6126480"/>
            <a:ext cx="13716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Exhibit Limitations &amp; Reproduction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300">
                <a:solidFill>
                  <a:srgbClr val="8ECAE6"/>
                </a:solidFill>
                <a:latin typeface="Segoe UI"/>
              </a:defRPr>
            </a:pPr>
            <a:r>
              <a:t>EXHIBIT LIMITATIONS</a:t>
            </a:r>
          </a:p>
          <a:p>
            <a:pPr>
              <a:spcBef>
                <a:spcPts val="1000"/>
              </a:spcBef>
              <a:defRPr>
                <a:latin typeface="Segoe UI"/>
              </a:defRPr>
            </a:pPr>
            <a:r>
              <a:rPr b="1" sz="1200">
                <a:solidFill>
                  <a:srgbClr val="FFFFFF"/>
                </a:solidFill>
              </a:rPr>
              <a:t>▪  Sample Size (N=5): </a:t>
            </a:r>
            <a:r>
              <a:rPr sz="1200">
                <a:solidFill>
                  <a:srgbClr val="475569"/>
                </a:solidFill>
              </a:rPr>
              <a:t>Sufficient for validating directionality, but not powered for high-confidence variance or tight effect-size estimations.</a:t>
            </a:r>
          </a:p>
          <a:p>
            <a:pPr>
              <a:spcBef>
                <a:spcPts val="1000"/>
              </a:spcBef>
              <a:defRPr>
                <a:latin typeface="Segoe UI"/>
              </a:defRPr>
            </a:pPr>
            <a:r>
              <a:rPr b="1" sz="1200">
                <a:solidFill>
                  <a:srgbClr val="FFFFFF"/>
                </a:solidFill>
              </a:rPr>
              <a:t>▪  Single Scenario: </a:t>
            </a:r>
            <a:r>
              <a:rPr sz="1200">
                <a:solidFill>
                  <a:srgbClr val="475569"/>
                </a:solidFill>
              </a:rPr>
              <a:t>Currently limited to 'code-review-iteration-01'. Additional benchmark scenarios are required to broaden the evidence base.</a:t>
            </a:r>
          </a:p>
          <a:p>
            <a:pPr>
              <a:spcBef>
                <a:spcPts val="1000"/>
              </a:spcBef>
              <a:defRPr>
                <a:latin typeface="Segoe UI"/>
              </a:defRPr>
            </a:pPr>
            <a:r>
              <a:rPr b="1" sz="1200">
                <a:solidFill>
                  <a:srgbClr val="FFFFFF"/>
                </a:solidFill>
              </a:rPr>
              <a:t>▪  Automatic Cache Volatility: </a:t>
            </a:r>
            <a:r>
              <a:rPr sz="1200">
                <a:solidFill>
                  <a:srgbClr val="475569"/>
                </a:solidFill>
              </a:rPr>
              <a:t>Gemini's caching mechanics are proprietary and opaque, introducing external noise into the charged token calculations.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300">
                <a:solidFill>
                  <a:srgbClr val="8ECAE6"/>
                </a:solidFill>
                <a:latin typeface="Segoe UI"/>
              </a:defRPr>
            </a:pPr>
            <a:r>
              <a:t>REPRODUCTION RECIPE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Run the replicate commands from the repository root. Requires a validated PROVIDER_API_KEY inside the local environment: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212080" cy="2011680"/>
          </a:xfrm>
          <a:prstGeom prst="rect">
            <a:avLst/>
          </a:prstGeom>
          <a:solidFill>
            <a:srgbClr val="1B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17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ECAE6"/>
                </a:solidFill>
                <a:latin typeface="Consolas"/>
              </a:defRPr>
            </a:pPr>
            <a:r>
              <a:t>python -m benchmarks.scripts.runner energy \</a:t>
            </a:r>
            <a:br/>
            <a:r>
              <a:t>  --scenario code-review-iteration-01 --arm A_naive --n 5</a:t>
            </a:r>
            <a:br/>
            <a:br/>
            <a:r>
              <a:t>python -m benchmarks.scripts.runner energy \</a:t>
            </a:r>
            <a:br/>
            <a:r>
              <a:t>  --scenario code-review-iteration-01 --arm B_engineered --n 5</a:t>
            </a:r>
            <a:br/>
            <a:br/>
            <a:r>
              <a:t>python -m benchmarks.scripts.analyzer \</a:t>
            </a:r>
            <a:br/>
            <a:r>
              <a:t>  --results-dir benchmarks/results/energy/code-review-iteration-01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